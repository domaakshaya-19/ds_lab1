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8657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elebrated-pastelito-238b4d.netlify.app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10" Type="http://schemas.openxmlformats.org/officeDocument/2006/relationships/image" Target="../media/image18.png"/><Relationship Id="rId4" Type="http://schemas.openxmlformats.org/officeDocument/2006/relationships/image" Target="../media/image16.png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elebrated-pastelito-238b4d.netlify.app/" TargetMode="Externa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6400800" cy="6400800"/>
          </a:xfrm>
          <a:prstGeom prst="ellipse">
            <a:avLst/>
          </a:prstGeom>
          <a:solidFill>
            <a:srgbClr val="1C2C4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C2C4F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39" y="952119"/>
            <a:ext cx="427482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PROJECT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1488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Price Predictor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AI-driven, sentiment-weighted real estate price estimation platform for the Indian housing market.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4091940"/>
            <a:ext cx="5760720" cy="594360"/>
          </a:xfrm>
          <a:prstGeom prst="roundRect">
            <a:avLst>
              <a:gd name="adj" fmla="val 15385"/>
            </a:avLst>
          </a:prstGeom>
          <a:solidFill>
            <a:srgbClr val="1C2C4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Working : </a:t>
            </a: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https://celebrated-pastelito-238b4d.netlify.app/</a:t>
            </a:r>
            <a:endParaRPr lang="en-US" sz="1300" b="1" dirty="0">
              <a:solidFill>
                <a:srgbClr val="2DD4B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5745861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esteemed guidance of 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Pratyusha</a:t>
            </a:r>
            <a:endParaRPr 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F77214-FE30-174F-49B3-F8D441D3A29A}"/>
              </a:ext>
            </a:extLst>
          </p:cNvPr>
          <p:cNvSpPr txBox="1"/>
          <p:nvPr/>
        </p:nvSpPr>
        <p:spPr>
          <a:xfrm>
            <a:off x="9037320" y="770096"/>
            <a:ext cx="3962400" cy="1849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Our Team:</a:t>
            </a:r>
          </a:p>
          <a:p>
            <a:endParaRPr lang="en-IN" i="1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D. Akshaya – 2420030474</a:t>
            </a:r>
          </a:p>
          <a:p>
            <a:pPr>
              <a:lnSpc>
                <a:spcPct val="150000"/>
              </a:lnSpc>
            </a:pPr>
            <a:r>
              <a:rPr lang="en-IN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D. Aarya Deeksha – 2420030530</a:t>
            </a:r>
          </a:p>
          <a:p>
            <a:pPr>
              <a:lnSpc>
                <a:spcPct val="150000"/>
              </a:lnSpc>
            </a:pPr>
            <a:r>
              <a:rPr lang="en-IN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A. Rishitha Reddy - 2420030541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house price prediction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pricing in India is fragmented and opaque. Buyers, sellers, and renters rarely have access to a transparent, factor-based way to estimate a property's fair value — leading to mispricing, guesswork, and reliance on broker opinions.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3375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A10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3108960"/>
            <a:ext cx="685800" cy="6858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570" y="3280410"/>
            <a:ext cx="342900" cy="342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9776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Standard Benchmark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60120" y="452628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vary wildly across listings for similar properties with no consistent valuation logic.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89120" y="2743200"/>
            <a:ext cx="33375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A102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3108960"/>
            <a:ext cx="685800" cy="6858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610" y="3280410"/>
            <a:ext cx="342900" cy="342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9776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Is Ignored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709160" y="452628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mood and buyer sentiment shift prices in the real world, but are rarely factored into estimates.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38160" y="2743200"/>
            <a:ext cx="33375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A102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58200" y="3108960"/>
            <a:ext cx="685800" cy="6858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9650" y="328041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58200" y="39776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Guesswork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458200" y="452628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online tools rely on flat per-sqft rates, ignoring BHK, bathrooms, type, age, and floor level.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PREDICTOR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multi-factor, sentiment-aware pricing engine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propose an interactive web-based pricing engine that blends structured property data with simulated market sentiment to generate a transparent, real-time INR price estimate — visualized through a live analytics dashboard.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10881360" cy="1325880"/>
          </a:xfrm>
          <a:prstGeom prst="roundRect">
            <a:avLst>
              <a:gd name="adj" fmla="val 8276"/>
            </a:avLst>
          </a:prstGeom>
          <a:solidFill>
            <a:srgbClr val="1C2C4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06040"/>
            <a:ext cx="10332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Price  =  </a:t>
            </a:r>
            <a:r>
              <a:rPr lang="en-US" sz="1350" b="1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r>
              <a:rPr lang="en-US" sz="13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350" b="1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₹/sqft  </a:t>
            </a:r>
            <a:r>
              <a:rPr lang="en-US" sz="13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</a:t>
            </a:r>
            <a:r>
              <a:rPr lang="en-US" sz="1350" b="1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BHK Factor  </a:t>
            </a:r>
            <a:r>
              <a:rPr lang="en-US" sz="13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</a:t>
            </a:r>
            <a:r>
              <a:rPr lang="en-US" sz="1350" b="1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 Factor  </a:t>
            </a:r>
            <a:r>
              <a:rPr lang="en-US" sz="13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</a:t>
            </a:r>
            <a:r>
              <a:rPr lang="en-US" sz="1350" b="1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Multiplier  </a:t>
            </a:r>
            <a:r>
              <a:rPr lang="en-US" sz="13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</a:t>
            </a:r>
            <a:r>
              <a:rPr lang="en-US" sz="1350" b="1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Locality Tier</a:t>
            </a:r>
            <a:r>
              <a:rPr lang="en-US" sz="13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r>
              <a:rPr lang="en-US" sz="1350" b="1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Factor  </a:t>
            </a:r>
            <a:r>
              <a:rPr lang="en-US" sz="13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</a:t>
            </a:r>
            <a:r>
              <a:rPr lang="en-US" sz="1350" b="1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Factor  </a:t>
            </a:r>
            <a:r>
              <a:rPr lang="en-US" sz="13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</a:t>
            </a: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Multiplier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4251960"/>
            <a:ext cx="2542032" cy="1920240"/>
          </a:xfrm>
          <a:prstGeom prst="roundRect">
            <a:avLst>
              <a:gd name="adj" fmla="val 4762"/>
            </a:avLst>
          </a:prstGeom>
          <a:solidFill>
            <a:srgbClr val="1C2C4F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4526280"/>
            <a:ext cx="594360" cy="59436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843" y="4660011"/>
            <a:ext cx="326898" cy="32689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6112" y="521208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Feature Input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96112" y="55778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Area, BHK, bathrooms, type, locality, age &amp; floor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456432" y="4251960"/>
            <a:ext cx="2542032" cy="1920240"/>
          </a:xfrm>
          <a:prstGeom prst="roundRect">
            <a:avLst>
              <a:gd name="adj" fmla="val 4762"/>
            </a:avLst>
          </a:prstGeom>
          <a:solidFill>
            <a:srgbClr val="1C2C4F"/>
          </a:solidFill>
          <a:ln/>
        </p:spPr>
      </p:sp>
      <p:sp>
        <p:nvSpPr>
          <p:cNvPr id="13" name="Shape 10"/>
          <p:cNvSpPr/>
          <p:nvPr/>
        </p:nvSpPr>
        <p:spPr>
          <a:xfrm>
            <a:off x="3712464" y="4526280"/>
            <a:ext cx="594360" cy="59436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6195" y="4660011"/>
            <a:ext cx="326898" cy="32689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12464" y="521208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Sentiment Scoring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712464" y="55778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NLP-driven market mood index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272784" y="4251960"/>
            <a:ext cx="2542032" cy="1920240"/>
          </a:xfrm>
          <a:prstGeom prst="roundRect">
            <a:avLst>
              <a:gd name="adj" fmla="val 4762"/>
            </a:avLst>
          </a:prstGeom>
          <a:solidFill>
            <a:srgbClr val="1C2C4F"/>
          </a:solidFill>
          <a:ln/>
        </p:spPr>
      </p:sp>
      <p:sp>
        <p:nvSpPr>
          <p:cNvPr id="18" name="Shape 14"/>
          <p:cNvSpPr/>
          <p:nvPr/>
        </p:nvSpPr>
        <p:spPr>
          <a:xfrm>
            <a:off x="6528816" y="4526280"/>
            <a:ext cx="594360" cy="59436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2547" y="4660011"/>
            <a:ext cx="326898" cy="32689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28816" y="521208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Weighted Model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528816" y="55778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Multiplicative regression-style calculation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9089136" y="4251960"/>
            <a:ext cx="2542032" cy="1920240"/>
          </a:xfrm>
          <a:prstGeom prst="roundRect">
            <a:avLst>
              <a:gd name="adj" fmla="val 4762"/>
            </a:avLst>
          </a:prstGeom>
          <a:solidFill>
            <a:srgbClr val="1C2C4F"/>
          </a:solidFill>
          <a:ln/>
        </p:spPr>
      </p:sp>
      <p:sp>
        <p:nvSpPr>
          <p:cNvPr id="23" name="Shape 18"/>
          <p:cNvSpPr/>
          <p:nvPr/>
        </p:nvSpPr>
        <p:spPr>
          <a:xfrm>
            <a:off x="9345168" y="4526280"/>
            <a:ext cx="594360" cy="59436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8899" y="4660011"/>
            <a:ext cx="326898" cy="32689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45168" y="521208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Live Output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9345168" y="557784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INR estimate + confidence score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PREDICTOR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interactive web application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4373"/>
            <a:ext cx="6400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single-page web app where users configure a property's specifications and instantly see an AI-estimated price in INR, backed by a full data-visualization dashboard — no backend, no installation, fully deployed and live.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566928" cy="566928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9" y="3053639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85292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Input Form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17320" y="317296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type, BHK (1–10, incl. .5), bathrooms (1–6), age, floor &amp; ₹/sqft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3831336"/>
            <a:ext cx="566928" cy="566928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39" y="3958895"/>
            <a:ext cx="311810" cy="3118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75818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Price Dashboard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417320" y="407822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INR price, ₹/sqft, confidence score &amp; estimated EMI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40080" y="4736592"/>
            <a:ext cx="566928" cy="566928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639" y="4864151"/>
            <a:ext cx="311810" cy="3118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6634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Interactive Charts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417320" y="49834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Breakdown, comparison, trend, feature importance &amp; distribution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40080" y="5641848"/>
            <a:ext cx="566928" cy="566928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639" y="5769407"/>
            <a:ext cx="311810" cy="31181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556869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Responsive UI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417320" y="588873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dark-themed design that works on any device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7589520" y="1600200"/>
            <a:ext cx="3931920" cy="4526280"/>
          </a:xfrm>
          <a:prstGeom prst="roundRect">
            <a:avLst>
              <a:gd name="adj" fmla="val 3256"/>
            </a:avLst>
          </a:prstGeom>
          <a:solidFill>
            <a:srgbClr val="13203B"/>
          </a:solidFill>
          <a:ln/>
          <a:effectLst>
            <a:outerShdw blurRad="177800" dist="50800" dir="5400000" algn="bl" rotWithShape="0">
              <a:srgbClr val="0A1020">
                <a:alpha val="1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790956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VALUE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909560" y="21945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84.6 L</a:t>
            </a:r>
            <a:endParaRPr lang="en-US" sz="4000" dirty="0"/>
          </a:p>
        </p:txBody>
      </p:sp>
      <p:sp>
        <p:nvSpPr>
          <p:cNvPr id="24" name="Text 18"/>
          <p:cNvSpPr/>
          <p:nvPr/>
        </p:nvSpPr>
        <p:spPr>
          <a:xfrm>
            <a:off x="7909560" y="2880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₹7,050 / sqft  ·  93% confidence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7909560" y="3520440"/>
            <a:ext cx="1531620" cy="868680"/>
          </a:xfrm>
          <a:prstGeom prst="roundRect">
            <a:avLst>
              <a:gd name="adj" fmla="val 8421"/>
            </a:avLst>
          </a:prstGeom>
          <a:solidFill>
            <a:srgbClr val="1C2C4F"/>
          </a:solidFill>
          <a:ln/>
        </p:spPr>
      </p:sp>
      <p:sp>
        <p:nvSpPr>
          <p:cNvPr id="26" name="Text 20"/>
          <p:cNvSpPr/>
          <p:nvPr/>
        </p:nvSpPr>
        <p:spPr>
          <a:xfrm>
            <a:off x="8074152" y="3630168"/>
            <a:ext cx="1202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/ sqft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8074152" y="3904488"/>
            <a:ext cx="1202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₹7,050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9669780" y="3520440"/>
            <a:ext cx="1531620" cy="868680"/>
          </a:xfrm>
          <a:prstGeom prst="roundRect">
            <a:avLst>
              <a:gd name="adj" fmla="val 8421"/>
            </a:avLst>
          </a:prstGeom>
          <a:solidFill>
            <a:srgbClr val="1C2C4F"/>
          </a:solidFill>
          <a:ln/>
        </p:spPr>
      </p:sp>
      <p:sp>
        <p:nvSpPr>
          <p:cNvPr id="29" name="Text 23"/>
          <p:cNvSpPr/>
          <p:nvPr/>
        </p:nvSpPr>
        <p:spPr>
          <a:xfrm>
            <a:off x="9834372" y="3630168"/>
            <a:ext cx="1202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Locality Avg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9834372" y="3904488"/>
            <a:ext cx="1202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₹6,420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7909560" y="4572000"/>
            <a:ext cx="1531620" cy="868680"/>
          </a:xfrm>
          <a:prstGeom prst="roundRect">
            <a:avLst>
              <a:gd name="adj" fmla="val 8421"/>
            </a:avLst>
          </a:prstGeom>
          <a:solidFill>
            <a:srgbClr val="1C2C4F"/>
          </a:solidFill>
          <a:ln/>
        </p:spPr>
      </p:sp>
      <p:sp>
        <p:nvSpPr>
          <p:cNvPr id="32" name="Text 26"/>
          <p:cNvSpPr/>
          <p:nvPr/>
        </p:nvSpPr>
        <p:spPr>
          <a:xfrm>
            <a:off x="8074152" y="4681728"/>
            <a:ext cx="1202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Market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8074152" y="4956048"/>
            <a:ext cx="1202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+9.8%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9669780" y="4572000"/>
            <a:ext cx="1531620" cy="868680"/>
          </a:xfrm>
          <a:prstGeom prst="roundRect">
            <a:avLst>
              <a:gd name="adj" fmla="val 8421"/>
            </a:avLst>
          </a:prstGeom>
          <a:solidFill>
            <a:srgbClr val="1C2C4F"/>
          </a:solidFill>
          <a:ln/>
        </p:spPr>
      </p:sp>
      <p:sp>
        <p:nvSpPr>
          <p:cNvPr id="35" name="Text 29"/>
          <p:cNvSpPr/>
          <p:nvPr/>
        </p:nvSpPr>
        <p:spPr>
          <a:xfrm>
            <a:off x="9834372" y="4681728"/>
            <a:ext cx="1202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(20yr)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9834372" y="4956048"/>
            <a:ext cx="1202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₹68.2K</a:t>
            </a:r>
            <a:endParaRPr lang="en-US" sz="1600" dirty="0"/>
          </a:p>
        </p:txBody>
      </p:sp>
      <p:sp>
        <p:nvSpPr>
          <p:cNvPr id="37" name="Text 31"/>
          <p:cNvSpPr/>
          <p:nvPr/>
        </p:nvSpPr>
        <p:spPr>
          <a:xfrm>
            <a:off x="7909560" y="5623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Sentiment: Positive  ·  Flat  ·  Tier 1 Suburban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PREDICTOR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BUILT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as a single self-contained index.html file — no backend server or database — making it instantly deployable as a static site.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1C2C4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69748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959" y="2825039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67004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338328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structure for form, dashboard &amp; analytics sections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43400" y="2423160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1C2C4F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269748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279" y="2825039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267004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17720" y="338328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design system — gradients, cards, responsive grid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046720" y="2423160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1C2C4F"/>
          </a:solidFill>
          <a:ln/>
        </p:spPr>
      </p:sp>
      <p:sp>
        <p:nvSpPr>
          <p:cNvPr id="16" name="Shape 12"/>
          <p:cNvSpPr/>
          <p:nvPr/>
        </p:nvSpPr>
        <p:spPr>
          <a:xfrm>
            <a:off x="8321040" y="269748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8599" y="2825039"/>
            <a:ext cx="311810" cy="3118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52560" y="267004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21040" y="338328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engine logic &amp; real-time DOM/chart updates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40080" y="4407408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1C2C4F"/>
          </a:solidFill>
          <a:ln/>
        </p:spPr>
      </p:sp>
      <p:sp>
        <p:nvSpPr>
          <p:cNvPr id="21" name="Shape 16"/>
          <p:cNvSpPr/>
          <p:nvPr/>
        </p:nvSpPr>
        <p:spPr>
          <a:xfrm>
            <a:off x="914400" y="4681728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959" y="4809287"/>
            <a:ext cx="311810" cy="31181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465429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Chart.js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14400" y="5367528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live, auto-updating data visualizations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4343400" y="4407408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1C2C4F"/>
          </a:solidFill>
          <a:ln/>
        </p:spPr>
      </p:sp>
      <p:sp>
        <p:nvSpPr>
          <p:cNvPr id="26" name="Shape 20"/>
          <p:cNvSpPr/>
          <p:nvPr/>
        </p:nvSpPr>
        <p:spPr>
          <a:xfrm>
            <a:off x="4617720" y="4681728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5279" y="4809287"/>
            <a:ext cx="311810" cy="31181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49240" y="465429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Fonts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4617720" y="5367528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 &amp; Inter for a clean modern typography system</a:t>
            </a:r>
            <a:endParaRPr lang="en-US" sz="1350" dirty="0"/>
          </a:p>
        </p:txBody>
      </p:sp>
      <p:sp>
        <p:nvSpPr>
          <p:cNvPr id="30" name="Shape 23"/>
          <p:cNvSpPr/>
          <p:nvPr/>
        </p:nvSpPr>
        <p:spPr>
          <a:xfrm>
            <a:off x="8046720" y="4407408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1C2C4F"/>
          </a:solidFill>
          <a:ln/>
        </p:spPr>
      </p:sp>
      <p:sp>
        <p:nvSpPr>
          <p:cNvPr id="31" name="Shape 24"/>
          <p:cNvSpPr/>
          <p:nvPr/>
        </p:nvSpPr>
        <p:spPr>
          <a:xfrm>
            <a:off x="8321040" y="4681728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8599" y="4809287"/>
            <a:ext cx="311810" cy="31181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52560" y="465429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Netlify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8321040" y="5367528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hosting for instant public deployment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PREDICTOR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platform can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A102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39112"/>
            <a:ext cx="548640" cy="54864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" y="216255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619756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Property Types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3104468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Flat, Villa, Studio, Penthouse, Duplex, Farmhouse, Row House &amp; Independent House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29000" y="178308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A102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85032" y="2039112"/>
            <a:ext cx="548640" cy="54864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8476" y="2162556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5032" y="2624408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Flexible BHK Range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85032" y="3081608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 10 bedrooms, including half-values like 2.5, 3.5 and 4.5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78308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A102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73952" y="2039112"/>
            <a:ext cx="548640" cy="54864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2162556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262898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Bathroom Count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73952" y="3104468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Selectable from 1 to 6 bathrooms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06840" y="178308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A102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62872" y="2039112"/>
            <a:ext cx="548640" cy="54864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6316" y="2162556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62872" y="2624408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₹/Sqft Input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262872" y="3081608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locality preset or enter a fully custom base rate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3995928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A102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96112" y="4251960"/>
            <a:ext cx="548640" cy="54864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556" y="4375404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05497" y="4855464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Analysis Slider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896112" y="5312664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NLP market mood — bearish to bullish — shifts the price live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3429000" y="3995928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A102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685032" y="4251960"/>
            <a:ext cx="548640" cy="54864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8476" y="4375404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685032" y="4855464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Live Charts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3685032" y="5312664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Breakdown, comparison, sentiment trend, feature importance &amp; BHK distribution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6217920" y="3995928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A1020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73952" y="4251960"/>
            <a:ext cx="548640" cy="54864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7396" y="4375404"/>
            <a:ext cx="301752" cy="30175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73952" y="4855464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 Estimator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6473952" y="5312664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20-year EMI projection based on predicted value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9006840" y="3995928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A1020">
                <a:alpha val="1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262872" y="4251960"/>
            <a:ext cx="548640" cy="54864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86316" y="4375404"/>
            <a:ext cx="301752" cy="30175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256535" y="4855464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Score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9262872" y="5312664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indicator based on how typical the inputs are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PREDICTOR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screenshots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1C2C4F"/>
          </a:solidFill>
          <a:ln w="12700">
            <a:solidFill>
              <a:srgbClr val="30406B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994660" y="3406140"/>
            <a:ext cx="640080" cy="640080"/>
          </a:xfrm>
          <a:prstGeom prst="ellipse">
            <a:avLst/>
          </a:prstGeom>
          <a:solidFill>
            <a:srgbClr val="30406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35661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0462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screenshot here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57607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+ Dashboard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1C2C4F"/>
          </a:solidFill>
          <a:ln w="12700">
            <a:solidFill>
              <a:srgbClr val="30406B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8526780" y="2240280"/>
            <a:ext cx="640080" cy="640080"/>
          </a:xfrm>
          <a:prstGeom prst="ellipse">
            <a:avLst/>
          </a:prstGeom>
          <a:solidFill>
            <a:srgbClr val="30406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4003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72200" y="288036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screenshot here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172200" y="34290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Charts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72200" y="402336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1C2C4F"/>
          </a:solidFill>
          <a:ln w="12700">
            <a:solidFill>
              <a:srgbClr val="30406B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8526780" y="4572000"/>
            <a:ext cx="640080" cy="640080"/>
          </a:xfrm>
          <a:prstGeom prst="ellipse">
            <a:avLst/>
          </a:prstGeom>
          <a:solidFill>
            <a:srgbClr val="30406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47320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2200" y="52120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screenshot here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172200" y="57607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Section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PREDICTOR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A585C07-7E43-A930-74A7-974A2C430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91640"/>
            <a:ext cx="5379721" cy="443484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463D55F-E724-15C8-FEF5-FA0BDC630E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9341" y="1691640"/>
            <a:ext cx="5372100" cy="221962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EA5271F-C731-8CA3-55FD-D4926B1DE6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009269"/>
            <a:ext cx="5425441" cy="22196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1C2C4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31520"/>
            <a:ext cx="731520" cy="73152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896112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20116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Bringing data science to real estate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22960" y="292608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end-to-end data science thinking — feature engineering, sentiment analysis, weighted modeling and visual analytics — packaged into a live, usable product rather than a static notebook.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22960" y="3977640"/>
            <a:ext cx="320040" cy="32004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041648"/>
            <a:ext cx="192024" cy="1920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95935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ML model trained on live listing data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4480560"/>
            <a:ext cx="320040" cy="32004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544568"/>
            <a:ext cx="192024" cy="1920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44622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City-wise localized datasets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822960" y="4983480"/>
            <a:ext cx="320040" cy="32004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504748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49651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 to save predictions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822960" y="5715000"/>
            <a:ext cx="5943600" cy="594360"/>
          </a:xfrm>
          <a:prstGeom prst="roundRect">
            <a:avLst>
              <a:gd name="adj" fmla="val 15385"/>
            </a:avLst>
          </a:prstGeom>
          <a:solidFill>
            <a:srgbClr val="1C2C4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1874520" y="5833872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https://celebrated-pastelito-238b4d.netlify.app/</a:t>
            </a:r>
            <a:endParaRPr lang="en-US" sz="1300" b="1" dirty="0">
              <a:solidFill>
                <a:srgbClr val="2DD4B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8229600" y="4206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PREDICTOR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773</Words>
  <Application>Microsoft Office PowerPoint</Application>
  <PresentationFormat>Widescreen</PresentationFormat>
  <Paragraphs>127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Price Predictor</dc:title>
  <dc:subject>PptxGenJS Presentation</dc:subject>
  <dc:creator>Data Science Project</dc:creator>
  <cp:lastModifiedBy>Aarya Damera</cp:lastModifiedBy>
  <cp:revision>2</cp:revision>
  <dcterms:created xsi:type="dcterms:W3CDTF">2026-06-30T05:58:16Z</dcterms:created>
  <dcterms:modified xsi:type="dcterms:W3CDTF">2026-06-30T06:25:27Z</dcterms:modified>
</cp:coreProperties>
</file>